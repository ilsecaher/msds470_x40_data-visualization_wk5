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2" r:id="rId3"/>
    <p:sldId id="263" r:id="rId4"/>
    <p:sldId id="264" r:id="rId5"/>
    <p:sldId id="265" r:id="rId6"/>
    <p:sldId id="266" r:id="rId7"/>
    <p:sldId id="267" r:id="rId8"/>
    <p:sldId id="261"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97" d="100"/>
          <a:sy n="97" d="100"/>
        </p:scale>
        <p:origin x="2742" y="30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C778E4-94C6-0208-6DB4-D43950CDA56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5C79424-9A69-0317-6C03-0FA9E4BB673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B70A002-A06A-EC4C-9625-008839DCE41E}"/>
              </a:ext>
            </a:extLst>
          </p:cNvPr>
          <p:cNvSpPr>
            <a:spLocks noGrp="1"/>
          </p:cNvSpPr>
          <p:nvPr>
            <p:ph type="dt" sz="half" idx="10"/>
          </p:nvPr>
        </p:nvSpPr>
        <p:spPr/>
        <p:txBody>
          <a:bodyPr/>
          <a:lstStyle/>
          <a:p>
            <a:fld id="{21390B68-90BC-41A7-8C66-2C86ECFC29D1}" type="datetimeFigureOut">
              <a:rPr lang="en-US" smtClean="0"/>
              <a:t>2/21/2026</a:t>
            </a:fld>
            <a:endParaRPr lang="en-US"/>
          </a:p>
        </p:txBody>
      </p:sp>
      <p:sp>
        <p:nvSpPr>
          <p:cNvPr id="5" name="Footer Placeholder 4">
            <a:extLst>
              <a:ext uri="{FF2B5EF4-FFF2-40B4-BE49-F238E27FC236}">
                <a16:creationId xmlns:a16="http://schemas.microsoft.com/office/drawing/2014/main" id="{148A58F9-FB34-F7B3-2212-0501D8FF197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5318E1C-1A29-3BD9-28C9-B397DF8FC83F}"/>
              </a:ext>
            </a:extLst>
          </p:cNvPr>
          <p:cNvSpPr>
            <a:spLocks noGrp="1"/>
          </p:cNvSpPr>
          <p:nvPr>
            <p:ph type="sldNum" sz="quarter" idx="12"/>
          </p:nvPr>
        </p:nvSpPr>
        <p:spPr/>
        <p:txBody>
          <a:bodyPr/>
          <a:lstStyle/>
          <a:p>
            <a:fld id="{F27E94FC-C976-47DB-AF10-00130952DF42}" type="slidenum">
              <a:rPr lang="en-US" smtClean="0"/>
              <a:t>‹#›</a:t>
            </a:fld>
            <a:endParaRPr lang="en-US"/>
          </a:p>
        </p:txBody>
      </p:sp>
    </p:spTree>
    <p:extLst>
      <p:ext uri="{BB962C8B-B14F-4D97-AF65-F5344CB8AC3E}">
        <p14:creationId xmlns:p14="http://schemas.microsoft.com/office/powerpoint/2010/main" val="24141762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44E841-0F04-2DF1-CC64-08BB539AAFE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969FD73-7CAA-15D7-8833-C81FA1295F2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0010031-9BF4-F524-95F7-6BD5CCE3CB83}"/>
              </a:ext>
            </a:extLst>
          </p:cNvPr>
          <p:cNvSpPr>
            <a:spLocks noGrp="1"/>
          </p:cNvSpPr>
          <p:nvPr>
            <p:ph type="dt" sz="half" idx="10"/>
          </p:nvPr>
        </p:nvSpPr>
        <p:spPr/>
        <p:txBody>
          <a:bodyPr/>
          <a:lstStyle/>
          <a:p>
            <a:fld id="{21390B68-90BC-41A7-8C66-2C86ECFC29D1}" type="datetimeFigureOut">
              <a:rPr lang="en-US" smtClean="0"/>
              <a:t>2/21/2026</a:t>
            </a:fld>
            <a:endParaRPr lang="en-US"/>
          </a:p>
        </p:txBody>
      </p:sp>
      <p:sp>
        <p:nvSpPr>
          <p:cNvPr id="5" name="Footer Placeholder 4">
            <a:extLst>
              <a:ext uri="{FF2B5EF4-FFF2-40B4-BE49-F238E27FC236}">
                <a16:creationId xmlns:a16="http://schemas.microsoft.com/office/drawing/2014/main" id="{4B6D2F7C-61AD-44F4-07D7-E37894662B4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83D2930-5645-664F-7CFB-1A551C309062}"/>
              </a:ext>
            </a:extLst>
          </p:cNvPr>
          <p:cNvSpPr>
            <a:spLocks noGrp="1"/>
          </p:cNvSpPr>
          <p:nvPr>
            <p:ph type="sldNum" sz="quarter" idx="12"/>
          </p:nvPr>
        </p:nvSpPr>
        <p:spPr/>
        <p:txBody>
          <a:bodyPr/>
          <a:lstStyle/>
          <a:p>
            <a:fld id="{F27E94FC-C976-47DB-AF10-00130952DF42}" type="slidenum">
              <a:rPr lang="en-US" smtClean="0"/>
              <a:t>‹#›</a:t>
            </a:fld>
            <a:endParaRPr lang="en-US"/>
          </a:p>
        </p:txBody>
      </p:sp>
    </p:spTree>
    <p:extLst>
      <p:ext uri="{BB962C8B-B14F-4D97-AF65-F5344CB8AC3E}">
        <p14:creationId xmlns:p14="http://schemas.microsoft.com/office/powerpoint/2010/main" val="305882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89F497-E1F7-3675-1AC5-510D390F81B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2E9F47B-704F-AD3B-2B66-1FD0D658342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4633648-8B18-23B7-9621-C1D1B3A8D7A9}"/>
              </a:ext>
            </a:extLst>
          </p:cNvPr>
          <p:cNvSpPr>
            <a:spLocks noGrp="1"/>
          </p:cNvSpPr>
          <p:nvPr>
            <p:ph type="dt" sz="half" idx="10"/>
          </p:nvPr>
        </p:nvSpPr>
        <p:spPr/>
        <p:txBody>
          <a:bodyPr/>
          <a:lstStyle/>
          <a:p>
            <a:fld id="{21390B68-90BC-41A7-8C66-2C86ECFC29D1}" type="datetimeFigureOut">
              <a:rPr lang="en-US" smtClean="0"/>
              <a:t>2/21/2026</a:t>
            </a:fld>
            <a:endParaRPr lang="en-US"/>
          </a:p>
        </p:txBody>
      </p:sp>
      <p:sp>
        <p:nvSpPr>
          <p:cNvPr id="5" name="Footer Placeholder 4">
            <a:extLst>
              <a:ext uri="{FF2B5EF4-FFF2-40B4-BE49-F238E27FC236}">
                <a16:creationId xmlns:a16="http://schemas.microsoft.com/office/drawing/2014/main" id="{4529A776-B2D2-57C9-1093-7870C33A946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29FF7E7-DB65-4B06-AF6A-755F0CC46755}"/>
              </a:ext>
            </a:extLst>
          </p:cNvPr>
          <p:cNvSpPr>
            <a:spLocks noGrp="1"/>
          </p:cNvSpPr>
          <p:nvPr>
            <p:ph type="sldNum" sz="quarter" idx="12"/>
          </p:nvPr>
        </p:nvSpPr>
        <p:spPr/>
        <p:txBody>
          <a:bodyPr/>
          <a:lstStyle/>
          <a:p>
            <a:fld id="{F27E94FC-C976-47DB-AF10-00130952DF42}" type="slidenum">
              <a:rPr lang="en-US" smtClean="0"/>
              <a:t>‹#›</a:t>
            </a:fld>
            <a:endParaRPr lang="en-US"/>
          </a:p>
        </p:txBody>
      </p:sp>
    </p:spTree>
    <p:extLst>
      <p:ext uri="{BB962C8B-B14F-4D97-AF65-F5344CB8AC3E}">
        <p14:creationId xmlns:p14="http://schemas.microsoft.com/office/powerpoint/2010/main" val="42467917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E1A9CA-50DB-614A-1A2E-DD3B09ED043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892DB55-5D94-31CD-E1BA-C686D61BFD7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132C8B9-DA5E-96D7-87BB-CA21CD4E997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E908E3B-F9FE-9E89-8304-DE8042E486DD}"/>
              </a:ext>
            </a:extLst>
          </p:cNvPr>
          <p:cNvSpPr>
            <a:spLocks noGrp="1"/>
          </p:cNvSpPr>
          <p:nvPr>
            <p:ph type="dt" sz="half" idx="10"/>
          </p:nvPr>
        </p:nvSpPr>
        <p:spPr/>
        <p:txBody>
          <a:bodyPr/>
          <a:lstStyle/>
          <a:p>
            <a:fld id="{21390B68-90BC-41A7-8C66-2C86ECFC29D1}" type="datetimeFigureOut">
              <a:rPr lang="en-US" smtClean="0"/>
              <a:t>2/21/2026</a:t>
            </a:fld>
            <a:endParaRPr lang="en-US"/>
          </a:p>
        </p:txBody>
      </p:sp>
      <p:sp>
        <p:nvSpPr>
          <p:cNvPr id="6" name="Footer Placeholder 5">
            <a:extLst>
              <a:ext uri="{FF2B5EF4-FFF2-40B4-BE49-F238E27FC236}">
                <a16:creationId xmlns:a16="http://schemas.microsoft.com/office/drawing/2014/main" id="{DE3F5BA8-9A5A-9326-5758-C18CBEAE644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A6998E4-1DA6-8A52-4E02-C92F30662495}"/>
              </a:ext>
            </a:extLst>
          </p:cNvPr>
          <p:cNvSpPr>
            <a:spLocks noGrp="1"/>
          </p:cNvSpPr>
          <p:nvPr>
            <p:ph type="sldNum" sz="quarter" idx="12"/>
          </p:nvPr>
        </p:nvSpPr>
        <p:spPr/>
        <p:txBody>
          <a:bodyPr/>
          <a:lstStyle/>
          <a:p>
            <a:fld id="{F27E94FC-C976-47DB-AF10-00130952DF42}" type="slidenum">
              <a:rPr lang="en-US" smtClean="0"/>
              <a:t>‹#›</a:t>
            </a:fld>
            <a:endParaRPr lang="en-US"/>
          </a:p>
        </p:txBody>
      </p:sp>
    </p:spTree>
    <p:extLst>
      <p:ext uri="{BB962C8B-B14F-4D97-AF65-F5344CB8AC3E}">
        <p14:creationId xmlns:p14="http://schemas.microsoft.com/office/powerpoint/2010/main" val="36360903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F3ACCC-D0F3-ABF7-AFC2-494F1D199A6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BA3EA47-4E34-B4AE-DFF3-615E557228E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FF7BF68-2EBD-23B1-FCDF-72E6598F36A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BA437AF-6236-F0FA-179F-87A26F8655D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F8826C4-FB72-2B6C-65FA-F521C014C3A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1BF7EA5-83FD-668A-B927-296D69D37E44}"/>
              </a:ext>
            </a:extLst>
          </p:cNvPr>
          <p:cNvSpPr>
            <a:spLocks noGrp="1"/>
          </p:cNvSpPr>
          <p:nvPr>
            <p:ph type="dt" sz="half" idx="10"/>
          </p:nvPr>
        </p:nvSpPr>
        <p:spPr/>
        <p:txBody>
          <a:bodyPr/>
          <a:lstStyle/>
          <a:p>
            <a:fld id="{21390B68-90BC-41A7-8C66-2C86ECFC29D1}" type="datetimeFigureOut">
              <a:rPr lang="en-US" smtClean="0"/>
              <a:t>2/21/2026</a:t>
            </a:fld>
            <a:endParaRPr lang="en-US"/>
          </a:p>
        </p:txBody>
      </p:sp>
      <p:sp>
        <p:nvSpPr>
          <p:cNvPr id="8" name="Footer Placeholder 7">
            <a:extLst>
              <a:ext uri="{FF2B5EF4-FFF2-40B4-BE49-F238E27FC236}">
                <a16:creationId xmlns:a16="http://schemas.microsoft.com/office/drawing/2014/main" id="{B362DEE1-5CB9-4D5F-534A-6657FA87233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9ECE262-F0B8-32C9-DF5C-3250752A126D}"/>
              </a:ext>
            </a:extLst>
          </p:cNvPr>
          <p:cNvSpPr>
            <a:spLocks noGrp="1"/>
          </p:cNvSpPr>
          <p:nvPr>
            <p:ph type="sldNum" sz="quarter" idx="12"/>
          </p:nvPr>
        </p:nvSpPr>
        <p:spPr/>
        <p:txBody>
          <a:bodyPr/>
          <a:lstStyle/>
          <a:p>
            <a:fld id="{F27E94FC-C976-47DB-AF10-00130952DF42}" type="slidenum">
              <a:rPr lang="en-US" smtClean="0"/>
              <a:t>‹#›</a:t>
            </a:fld>
            <a:endParaRPr lang="en-US"/>
          </a:p>
        </p:txBody>
      </p:sp>
    </p:spTree>
    <p:extLst>
      <p:ext uri="{BB962C8B-B14F-4D97-AF65-F5344CB8AC3E}">
        <p14:creationId xmlns:p14="http://schemas.microsoft.com/office/powerpoint/2010/main" val="14416043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2F0A52-0811-E240-2ED0-D1BB9E05CC7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D7E351D-BB06-394B-AC00-90BA643DD608}"/>
              </a:ext>
            </a:extLst>
          </p:cNvPr>
          <p:cNvSpPr>
            <a:spLocks noGrp="1"/>
          </p:cNvSpPr>
          <p:nvPr>
            <p:ph type="dt" sz="half" idx="10"/>
          </p:nvPr>
        </p:nvSpPr>
        <p:spPr/>
        <p:txBody>
          <a:bodyPr/>
          <a:lstStyle/>
          <a:p>
            <a:fld id="{21390B68-90BC-41A7-8C66-2C86ECFC29D1}" type="datetimeFigureOut">
              <a:rPr lang="en-US" smtClean="0"/>
              <a:t>2/21/2026</a:t>
            </a:fld>
            <a:endParaRPr lang="en-US"/>
          </a:p>
        </p:txBody>
      </p:sp>
      <p:sp>
        <p:nvSpPr>
          <p:cNvPr id="4" name="Footer Placeholder 3">
            <a:extLst>
              <a:ext uri="{FF2B5EF4-FFF2-40B4-BE49-F238E27FC236}">
                <a16:creationId xmlns:a16="http://schemas.microsoft.com/office/drawing/2014/main" id="{1BC2224B-9A9F-1F61-A4D0-BF4291421ED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7B3A3F4-F2B9-E1CE-1875-59AF33149FA2}"/>
              </a:ext>
            </a:extLst>
          </p:cNvPr>
          <p:cNvSpPr>
            <a:spLocks noGrp="1"/>
          </p:cNvSpPr>
          <p:nvPr>
            <p:ph type="sldNum" sz="quarter" idx="12"/>
          </p:nvPr>
        </p:nvSpPr>
        <p:spPr/>
        <p:txBody>
          <a:bodyPr/>
          <a:lstStyle/>
          <a:p>
            <a:fld id="{F27E94FC-C976-47DB-AF10-00130952DF42}" type="slidenum">
              <a:rPr lang="en-US" smtClean="0"/>
              <a:t>‹#›</a:t>
            </a:fld>
            <a:endParaRPr lang="en-US"/>
          </a:p>
        </p:txBody>
      </p:sp>
    </p:spTree>
    <p:extLst>
      <p:ext uri="{BB962C8B-B14F-4D97-AF65-F5344CB8AC3E}">
        <p14:creationId xmlns:p14="http://schemas.microsoft.com/office/powerpoint/2010/main" val="9990978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710C23D-A8F3-05EF-8EE2-CE43483DA9BA}"/>
              </a:ext>
            </a:extLst>
          </p:cNvPr>
          <p:cNvSpPr>
            <a:spLocks noGrp="1"/>
          </p:cNvSpPr>
          <p:nvPr>
            <p:ph type="dt" sz="half" idx="10"/>
          </p:nvPr>
        </p:nvSpPr>
        <p:spPr/>
        <p:txBody>
          <a:bodyPr/>
          <a:lstStyle/>
          <a:p>
            <a:fld id="{21390B68-90BC-41A7-8C66-2C86ECFC29D1}" type="datetimeFigureOut">
              <a:rPr lang="en-US" smtClean="0"/>
              <a:t>2/21/2026</a:t>
            </a:fld>
            <a:endParaRPr lang="en-US"/>
          </a:p>
        </p:txBody>
      </p:sp>
      <p:sp>
        <p:nvSpPr>
          <p:cNvPr id="3" name="Footer Placeholder 2">
            <a:extLst>
              <a:ext uri="{FF2B5EF4-FFF2-40B4-BE49-F238E27FC236}">
                <a16:creationId xmlns:a16="http://schemas.microsoft.com/office/drawing/2014/main" id="{7F8ACA4C-672F-EB8F-E6D0-857DF045F9A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0FE54AE-96B9-9508-3219-56C4066887D5}"/>
              </a:ext>
            </a:extLst>
          </p:cNvPr>
          <p:cNvSpPr>
            <a:spLocks noGrp="1"/>
          </p:cNvSpPr>
          <p:nvPr>
            <p:ph type="sldNum" sz="quarter" idx="12"/>
          </p:nvPr>
        </p:nvSpPr>
        <p:spPr/>
        <p:txBody>
          <a:bodyPr/>
          <a:lstStyle/>
          <a:p>
            <a:fld id="{F27E94FC-C976-47DB-AF10-00130952DF42}" type="slidenum">
              <a:rPr lang="en-US" smtClean="0"/>
              <a:t>‹#›</a:t>
            </a:fld>
            <a:endParaRPr lang="en-US"/>
          </a:p>
        </p:txBody>
      </p:sp>
    </p:spTree>
    <p:extLst>
      <p:ext uri="{BB962C8B-B14F-4D97-AF65-F5344CB8AC3E}">
        <p14:creationId xmlns:p14="http://schemas.microsoft.com/office/powerpoint/2010/main" val="14598210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18D49C-136E-7C91-FDA0-48ED28D6B5B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B920143-4027-E5D5-847E-59DE57C20D0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D59F61E-229A-5E7D-5B4E-A1C8B529D7A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A58892C-000C-CC29-0088-1C8026F65E70}"/>
              </a:ext>
            </a:extLst>
          </p:cNvPr>
          <p:cNvSpPr>
            <a:spLocks noGrp="1"/>
          </p:cNvSpPr>
          <p:nvPr>
            <p:ph type="dt" sz="half" idx="10"/>
          </p:nvPr>
        </p:nvSpPr>
        <p:spPr/>
        <p:txBody>
          <a:bodyPr/>
          <a:lstStyle/>
          <a:p>
            <a:fld id="{21390B68-90BC-41A7-8C66-2C86ECFC29D1}" type="datetimeFigureOut">
              <a:rPr lang="en-US" smtClean="0"/>
              <a:t>2/21/2026</a:t>
            </a:fld>
            <a:endParaRPr lang="en-US"/>
          </a:p>
        </p:txBody>
      </p:sp>
      <p:sp>
        <p:nvSpPr>
          <p:cNvPr id="6" name="Footer Placeholder 5">
            <a:extLst>
              <a:ext uri="{FF2B5EF4-FFF2-40B4-BE49-F238E27FC236}">
                <a16:creationId xmlns:a16="http://schemas.microsoft.com/office/drawing/2014/main" id="{CA0DAB9C-491C-4104-0399-D101D7C4804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B6798EB-0326-3B04-7B20-6F06E0E8E09F}"/>
              </a:ext>
            </a:extLst>
          </p:cNvPr>
          <p:cNvSpPr>
            <a:spLocks noGrp="1"/>
          </p:cNvSpPr>
          <p:nvPr>
            <p:ph type="sldNum" sz="quarter" idx="12"/>
          </p:nvPr>
        </p:nvSpPr>
        <p:spPr/>
        <p:txBody>
          <a:bodyPr/>
          <a:lstStyle/>
          <a:p>
            <a:fld id="{F27E94FC-C976-47DB-AF10-00130952DF42}" type="slidenum">
              <a:rPr lang="en-US" smtClean="0"/>
              <a:t>‹#›</a:t>
            </a:fld>
            <a:endParaRPr lang="en-US"/>
          </a:p>
        </p:txBody>
      </p:sp>
    </p:spTree>
    <p:extLst>
      <p:ext uri="{BB962C8B-B14F-4D97-AF65-F5344CB8AC3E}">
        <p14:creationId xmlns:p14="http://schemas.microsoft.com/office/powerpoint/2010/main" val="23523355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7B3D29-721C-7C9D-2F3A-13087A112D5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0F283DF-AD57-034E-EA4B-572D9AC17FD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0B1E938-7B08-F03B-9F32-72A7AD54F80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B88A649-FAD0-A0AB-9ACD-46B9B3DD9386}"/>
              </a:ext>
            </a:extLst>
          </p:cNvPr>
          <p:cNvSpPr>
            <a:spLocks noGrp="1"/>
          </p:cNvSpPr>
          <p:nvPr>
            <p:ph type="dt" sz="half" idx="10"/>
          </p:nvPr>
        </p:nvSpPr>
        <p:spPr/>
        <p:txBody>
          <a:bodyPr/>
          <a:lstStyle/>
          <a:p>
            <a:fld id="{21390B68-90BC-41A7-8C66-2C86ECFC29D1}" type="datetimeFigureOut">
              <a:rPr lang="en-US" smtClean="0"/>
              <a:t>2/21/2026</a:t>
            </a:fld>
            <a:endParaRPr lang="en-US"/>
          </a:p>
        </p:txBody>
      </p:sp>
      <p:sp>
        <p:nvSpPr>
          <p:cNvPr id="6" name="Footer Placeholder 5">
            <a:extLst>
              <a:ext uri="{FF2B5EF4-FFF2-40B4-BE49-F238E27FC236}">
                <a16:creationId xmlns:a16="http://schemas.microsoft.com/office/drawing/2014/main" id="{C3CCA34A-B15E-B3A0-DA64-016B125ABC8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33BB299-6B7D-A576-1EF0-DAB3A6EE9F9F}"/>
              </a:ext>
            </a:extLst>
          </p:cNvPr>
          <p:cNvSpPr>
            <a:spLocks noGrp="1"/>
          </p:cNvSpPr>
          <p:nvPr>
            <p:ph type="sldNum" sz="quarter" idx="12"/>
          </p:nvPr>
        </p:nvSpPr>
        <p:spPr/>
        <p:txBody>
          <a:bodyPr/>
          <a:lstStyle/>
          <a:p>
            <a:fld id="{F27E94FC-C976-47DB-AF10-00130952DF42}" type="slidenum">
              <a:rPr lang="en-US" smtClean="0"/>
              <a:t>‹#›</a:t>
            </a:fld>
            <a:endParaRPr lang="en-US"/>
          </a:p>
        </p:txBody>
      </p:sp>
    </p:spTree>
    <p:extLst>
      <p:ext uri="{BB962C8B-B14F-4D97-AF65-F5344CB8AC3E}">
        <p14:creationId xmlns:p14="http://schemas.microsoft.com/office/powerpoint/2010/main" val="31372149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6A670-5722-FB23-8E69-2A42B9577F4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FDC0DC9-8E57-C006-75DD-A973A71FBE4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4610F5A-AA1F-6A06-A353-173552009E15}"/>
              </a:ext>
            </a:extLst>
          </p:cNvPr>
          <p:cNvSpPr>
            <a:spLocks noGrp="1"/>
          </p:cNvSpPr>
          <p:nvPr>
            <p:ph type="dt" sz="half" idx="10"/>
          </p:nvPr>
        </p:nvSpPr>
        <p:spPr/>
        <p:txBody>
          <a:bodyPr/>
          <a:lstStyle/>
          <a:p>
            <a:fld id="{21390B68-90BC-41A7-8C66-2C86ECFC29D1}" type="datetimeFigureOut">
              <a:rPr lang="en-US" smtClean="0"/>
              <a:t>2/21/2026</a:t>
            </a:fld>
            <a:endParaRPr lang="en-US"/>
          </a:p>
        </p:txBody>
      </p:sp>
      <p:sp>
        <p:nvSpPr>
          <p:cNvPr id="5" name="Footer Placeholder 4">
            <a:extLst>
              <a:ext uri="{FF2B5EF4-FFF2-40B4-BE49-F238E27FC236}">
                <a16:creationId xmlns:a16="http://schemas.microsoft.com/office/drawing/2014/main" id="{AE757A4F-6AB3-F0D7-6697-38798986C56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EBEB094-AAB9-82DB-3BC8-2D6B9EA78119}"/>
              </a:ext>
            </a:extLst>
          </p:cNvPr>
          <p:cNvSpPr>
            <a:spLocks noGrp="1"/>
          </p:cNvSpPr>
          <p:nvPr>
            <p:ph type="sldNum" sz="quarter" idx="12"/>
          </p:nvPr>
        </p:nvSpPr>
        <p:spPr/>
        <p:txBody>
          <a:bodyPr/>
          <a:lstStyle/>
          <a:p>
            <a:fld id="{F27E94FC-C976-47DB-AF10-00130952DF42}" type="slidenum">
              <a:rPr lang="en-US" smtClean="0"/>
              <a:t>‹#›</a:t>
            </a:fld>
            <a:endParaRPr lang="en-US"/>
          </a:p>
        </p:txBody>
      </p:sp>
    </p:spTree>
    <p:extLst>
      <p:ext uri="{BB962C8B-B14F-4D97-AF65-F5344CB8AC3E}">
        <p14:creationId xmlns:p14="http://schemas.microsoft.com/office/powerpoint/2010/main" val="4145738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8EAF20B-33BB-1731-EF38-117BF387E86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792BFD3-14E2-502E-CE8A-0B59E8EC8BD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AB921B9-37DA-F843-3AF4-3F73E9CA47A7}"/>
              </a:ext>
            </a:extLst>
          </p:cNvPr>
          <p:cNvSpPr>
            <a:spLocks noGrp="1"/>
          </p:cNvSpPr>
          <p:nvPr>
            <p:ph type="dt" sz="half" idx="10"/>
          </p:nvPr>
        </p:nvSpPr>
        <p:spPr/>
        <p:txBody>
          <a:bodyPr/>
          <a:lstStyle/>
          <a:p>
            <a:fld id="{21390B68-90BC-41A7-8C66-2C86ECFC29D1}" type="datetimeFigureOut">
              <a:rPr lang="en-US" smtClean="0"/>
              <a:t>2/21/2026</a:t>
            </a:fld>
            <a:endParaRPr lang="en-US"/>
          </a:p>
        </p:txBody>
      </p:sp>
      <p:sp>
        <p:nvSpPr>
          <p:cNvPr id="5" name="Footer Placeholder 4">
            <a:extLst>
              <a:ext uri="{FF2B5EF4-FFF2-40B4-BE49-F238E27FC236}">
                <a16:creationId xmlns:a16="http://schemas.microsoft.com/office/drawing/2014/main" id="{49A5CAE8-820B-33F6-5A4E-8E216511714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EF60487-D3AB-589D-2D5E-61664C0340CF}"/>
              </a:ext>
            </a:extLst>
          </p:cNvPr>
          <p:cNvSpPr>
            <a:spLocks noGrp="1"/>
          </p:cNvSpPr>
          <p:nvPr>
            <p:ph type="sldNum" sz="quarter" idx="12"/>
          </p:nvPr>
        </p:nvSpPr>
        <p:spPr/>
        <p:txBody>
          <a:bodyPr/>
          <a:lstStyle/>
          <a:p>
            <a:fld id="{F27E94FC-C976-47DB-AF10-00130952DF42}" type="slidenum">
              <a:rPr lang="en-US" smtClean="0"/>
              <a:t>‹#›</a:t>
            </a:fld>
            <a:endParaRPr lang="en-US"/>
          </a:p>
        </p:txBody>
      </p:sp>
    </p:spTree>
    <p:extLst>
      <p:ext uri="{BB962C8B-B14F-4D97-AF65-F5344CB8AC3E}">
        <p14:creationId xmlns:p14="http://schemas.microsoft.com/office/powerpoint/2010/main" val="22677811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9934AC8-30C2-B598-28B7-51100FC2AF2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68484E3-8759-02A1-0325-BA22AA93891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B565ADC-EA12-5B3B-E42D-E8619370C68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1390B68-90BC-41A7-8C66-2C86ECFC29D1}" type="datetimeFigureOut">
              <a:rPr lang="en-US" smtClean="0"/>
              <a:t>2/21/2026</a:t>
            </a:fld>
            <a:endParaRPr lang="en-US"/>
          </a:p>
        </p:txBody>
      </p:sp>
      <p:sp>
        <p:nvSpPr>
          <p:cNvPr id="5" name="Footer Placeholder 4">
            <a:extLst>
              <a:ext uri="{FF2B5EF4-FFF2-40B4-BE49-F238E27FC236}">
                <a16:creationId xmlns:a16="http://schemas.microsoft.com/office/drawing/2014/main" id="{FDA9A1C0-D26A-47D1-C2C5-74E31FF8FE0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B4FA898D-2F74-2260-5CAC-07A25F7909B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27E94FC-C976-47DB-AF10-00130952DF42}" type="slidenum">
              <a:rPr lang="en-US" smtClean="0"/>
              <a:t>‹#›</a:t>
            </a:fld>
            <a:endParaRPr lang="en-US"/>
          </a:p>
        </p:txBody>
      </p:sp>
    </p:spTree>
    <p:extLst>
      <p:ext uri="{BB962C8B-B14F-4D97-AF65-F5344CB8AC3E}">
        <p14:creationId xmlns:p14="http://schemas.microsoft.com/office/powerpoint/2010/main" val="59212272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E30439A-8A5B-46EC-8283-9B6B031D40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CEAD642-85CF-4750-8432-7C80C901F0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27"/>
            <a:ext cx="12192001" cy="6858000"/>
          </a:xfrm>
          <a:prstGeom prst="rect">
            <a:avLst/>
          </a:prstGeom>
          <a:gradFill>
            <a:gsLst>
              <a:gs pos="0">
                <a:srgbClr val="000000"/>
              </a:gs>
              <a:gs pos="100000">
                <a:schemeClr val="accent1">
                  <a:lumMod val="75000"/>
                </a:scheme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FA33EEAE-15D5-4119-8C1E-89D943F911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455521" y="-1720"/>
            <a:ext cx="11750040" cy="6840685"/>
          </a:xfrm>
          <a:prstGeom prst="rect">
            <a:avLst/>
          </a:prstGeom>
          <a:gradFill>
            <a:gsLst>
              <a:gs pos="21000">
                <a:schemeClr val="accent1">
                  <a:lumMod val="50000"/>
                  <a:alpha val="61000"/>
                </a:schemeClr>
              </a:gs>
              <a:gs pos="100000">
                <a:schemeClr val="accent1">
                  <a:alpha val="0"/>
                </a:schemeClr>
              </a:gs>
            </a:gsLst>
            <a:lin ang="21594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730D8B3B-9B80-4025-B934-26DC7D7CD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6054" y="-1291"/>
            <a:ext cx="3608179" cy="6858864"/>
          </a:xfrm>
          <a:prstGeom prst="rect">
            <a:avLst/>
          </a:prstGeom>
          <a:gradFill>
            <a:gsLst>
              <a:gs pos="0">
                <a:schemeClr val="accent1">
                  <a:lumMod val="75000"/>
                  <a:alpha val="0"/>
                </a:schemeClr>
              </a:gs>
              <a:gs pos="99000">
                <a:srgbClr val="000000">
                  <a:alpha val="41000"/>
                </a:srgb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B5A1B09C-1565-46F8-B70F-621C5EB48A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5274173">
            <a:off x="6059728" y="779270"/>
            <a:ext cx="4967533" cy="4988390"/>
          </a:xfrm>
          <a:prstGeom prst="ellipse">
            <a:avLst/>
          </a:prstGeom>
          <a:gradFill>
            <a:gsLst>
              <a:gs pos="0">
                <a:schemeClr val="accent1">
                  <a:alpha val="24000"/>
                </a:schemeClr>
              </a:gs>
              <a:gs pos="79000">
                <a:schemeClr val="accent1">
                  <a:lumMod val="60000"/>
                  <a:lumOff val="4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DDB98ED2-08AC-424F-36D5-5E2AB797FAF3}"/>
              </a:ext>
            </a:extLst>
          </p:cNvPr>
          <p:cNvSpPr>
            <a:spLocks noGrp="1"/>
          </p:cNvSpPr>
          <p:nvPr>
            <p:ph type="ctrTitle"/>
          </p:nvPr>
        </p:nvSpPr>
        <p:spPr>
          <a:xfrm>
            <a:off x="1386865" y="818984"/>
            <a:ext cx="6596245" cy="3268520"/>
          </a:xfrm>
        </p:spPr>
        <p:txBody>
          <a:bodyPr>
            <a:normAutofit/>
          </a:bodyPr>
          <a:lstStyle/>
          <a:p>
            <a:pPr algn="r"/>
            <a:r>
              <a:rPr lang="en-US" sz="4800" b="1" dirty="0">
                <a:solidFill>
                  <a:srgbClr val="FFFFFF"/>
                </a:solidFill>
              </a:rPr>
              <a:t>MSDS670_X40_Data Visualization</a:t>
            </a:r>
            <a:br>
              <a:rPr lang="en-US" sz="4800" b="1" dirty="0">
                <a:solidFill>
                  <a:srgbClr val="FFFFFF"/>
                </a:solidFill>
              </a:rPr>
            </a:br>
            <a:r>
              <a:rPr lang="en-US" sz="4800" b="1" dirty="0">
                <a:solidFill>
                  <a:srgbClr val="FFFFFF"/>
                </a:solidFill>
              </a:rPr>
              <a:t>Regis University</a:t>
            </a:r>
            <a:endParaRPr lang="en-US" sz="4800" dirty="0">
              <a:solidFill>
                <a:srgbClr val="FFFFFF"/>
              </a:solidFill>
            </a:endParaRPr>
          </a:p>
        </p:txBody>
      </p:sp>
      <p:sp>
        <p:nvSpPr>
          <p:cNvPr id="18" name="Rectangle 17">
            <a:extLst>
              <a:ext uri="{FF2B5EF4-FFF2-40B4-BE49-F238E27FC236}">
                <a16:creationId xmlns:a16="http://schemas.microsoft.com/office/drawing/2014/main" id="{8C516CC8-80AC-446C-A56E-9F54B72104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314" y="4480038"/>
            <a:ext cx="12179371" cy="2377962"/>
          </a:xfrm>
          <a:prstGeom prst="rect">
            <a:avLst/>
          </a:prstGeom>
          <a:gradFill>
            <a:gsLst>
              <a:gs pos="0">
                <a:schemeClr val="accent1">
                  <a:lumMod val="75000"/>
                  <a:alpha val="50000"/>
                </a:schemeClr>
              </a:gs>
              <a:gs pos="99000">
                <a:srgbClr val="000000">
                  <a:alpha val="34000"/>
                </a:srgb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a:extLst>
              <a:ext uri="{FF2B5EF4-FFF2-40B4-BE49-F238E27FC236}">
                <a16:creationId xmlns:a16="http://schemas.microsoft.com/office/drawing/2014/main" id="{8DCBC2B6-3355-C804-7288-D09406F35CBB}"/>
              </a:ext>
            </a:extLst>
          </p:cNvPr>
          <p:cNvSpPr>
            <a:spLocks noGrp="1"/>
          </p:cNvSpPr>
          <p:nvPr>
            <p:ph type="subTitle" idx="1"/>
          </p:nvPr>
        </p:nvSpPr>
        <p:spPr>
          <a:xfrm>
            <a:off x="1931874" y="4797188"/>
            <a:ext cx="6051236" cy="1241828"/>
          </a:xfrm>
        </p:spPr>
        <p:txBody>
          <a:bodyPr>
            <a:normAutofit/>
          </a:bodyPr>
          <a:lstStyle/>
          <a:p>
            <a:pPr algn="r"/>
            <a:r>
              <a:rPr lang="en-US" dirty="0">
                <a:solidFill>
                  <a:srgbClr val="FFFFFF"/>
                </a:solidFill>
              </a:rPr>
              <a:t>Week 6 Assignment</a:t>
            </a:r>
          </a:p>
          <a:p>
            <a:pPr algn="r"/>
            <a:r>
              <a:rPr lang="en-US" dirty="0">
                <a:solidFill>
                  <a:srgbClr val="FFFFFF"/>
                </a:solidFill>
              </a:rPr>
              <a:t>Ilse Severance</a:t>
            </a:r>
          </a:p>
        </p:txBody>
      </p:sp>
      <p:sp>
        <p:nvSpPr>
          <p:cNvPr id="20" name="Rectangle 19">
            <a:extLst>
              <a:ext uri="{FF2B5EF4-FFF2-40B4-BE49-F238E27FC236}">
                <a16:creationId xmlns:a16="http://schemas.microsoft.com/office/drawing/2014/main" id="{53947E58-F088-49F1-A3D1-DEA690192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6967085" y="1632660"/>
            <a:ext cx="6857572" cy="3592258"/>
          </a:xfrm>
          <a:prstGeom prst="rect">
            <a:avLst/>
          </a:prstGeom>
          <a:gradFill>
            <a:gsLst>
              <a:gs pos="0">
                <a:schemeClr val="accent1">
                  <a:lumMod val="75000"/>
                  <a:alpha val="50000"/>
                </a:schemeClr>
              </a:gs>
              <a:gs pos="99000">
                <a:srgbClr val="000000">
                  <a:alpha val="0"/>
                </a:srgb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598682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3F97A5-6CA1-2345-8988-8650BAF103F7}"/>
              </a:ext>
            </a:extLst>
          </p:cNvPr>
          <p:cNvSpPr>
            <a:spLocks noGrp="1"/>
          </p:cNvSpPr>
          <p:nvPr>
            <p:ph type="title"/>
          </p:nvPr>
        </p:nvSpPr>
        <p:spPr/>
        <p:txBody>
          <a:bodyPr/>
          <a:lstStyle/>
          <a:p>
            <a:r>
              <a:rPr lang="en-US" dirty="0"/>
              <a:t>Overview</a:t>
            </a:r>
          </a:p>
        </p:txBody>
      </p:sp>
      <p:sp>
        <p:nvSpPr>
          <p:cNvPr id="3" name="Content Placeholder 2">
            <a:extLst>
              <a:ext uri="{FF2B5EF4-FFF2-40B4-BE49-F238E27FC236}">
                <a16:creationId xmlns:a16="http://schemas.microsoft.com/office/drawing/2014/main" id="{A199C98F-EAA4-77BC-2104-7E917C897622}"/>
              </a:ext>
            </a:extLst>
          </p:cNvPr>
          <p:cNvSpPr>
            <a:spLocks noGrp="1"/>
          </p:cNvSpPr>
          <p:nvPr>
            <p:ph idx="1"/>
          </p:nvPr>
        </p:nvSpPr>
        <p:spPr/>
        <p:txBody>
          <a:bodyPr/>
          <a:lstStyle/>
          <a:p>
            <a:pPr marL="0" indent="0">
              <a:buNone/>
            </a:pPr>
            <a:r>
              <a:rPr lang="en-US" dirty="0"/>
              <a:t>During this analysis, we aim to understand the relationship between gaming monetization behavior and indicators of mental health and social well being by evaluating monthly spending patterns alongside addiction risk levels, mood state, and social interaction metrics to determine whether high revenue engagement reflects healthy participation or signals elevated behavioral risk. The goal is to clarify whether rising spending represents genuine customer value or the beginnings of unhealthy dependency.</a:t>
            </a:r>
          </a:p>
          <a:p>
            <a:endParaRPr lang="en-US" dirty="0"/>
          </a:p>
        </p:txBody>
      </p:sp>
    </p:spTree>
    <p:extLst>
      <p:ext uri="{BB962C8B-B14F-4D97-AF65-F5344CB8AC3E}">
        <p14:creationId xmlns:p14="http://schemas.microsoft.com/office/powerpoint/2010/main" val="17011163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E99AF5-117A-A0CB-E752-4A4F1C625089}"/>
              </a:ext>
            </a:extLst>
          </p:cNvPr>
          <p:cNvSpPr>
            <a:spLocks noGrp="1"/>
          </p:cNvSpPr>
          <p:nvPr>
            <p:ph type="title"/>
          </p:nvPr>
        </p:nvSpPr>
        <p:spPr>
          <a:xfrm>
            <a:off x="907026" y="168481"/>
            <a:ext cx="10515600" cy="657430"/>
          </a:xfrm>
        </p:spPr>
        <p:txBody>
          <a:bodyPr>
            <a:normAutofit fontScale="90000"/>
          </a:bodyPr>
          <a:lstStyle/>
          <a:p>
            <a:r>
              <a:rPr lang="en-US" dirty="0"/>
              <a:t>Average Monthly Game Spending by Addiction Risk</a:t>
            </a:r>
          </a:p>
        </p:txBody>
      </p:sp>
      <p:sp>
        <p:nvSpPr>
          <p:cNvPr id="3" name="Content Placeholder 2">
            <a:extLst>
              <a:ext uri="{FF2B5EF4-FFF2-40B4-BE49-F238E27FC236}">
                <a16:creationId xmlns:a16="http://schemas.microsoft.com/office/drawing/2014/main" id="{CD8A4C73-E3FD-0E2D-FBA4-CF19607F780C}"/>
              </a:ext>
            </a:extLst>
          </p:cNvPr>
          <p:cNvSpPr>
            <a:spLocks noGrp="1"/>
          </p:cNvSpPr>
          <p:nvPr>
            <p:ph idx="1"/>
          </p:nvPr>
        </p:nvSpPr>
        <p:spPr>
          <a:xfrm>
            <a:off x="389603" y="4682835"/>
            <a:ext cx="11412794" cy="2006684"/>
          </a:xfrm>
        </p:spPr>
        <p:txBody>
          <a:bodyPr>
            <a:normAutofit fontScale="85000" lnSpcReduction="20000"/>
          </a:bodyPr>
          <a:lstStyle/>
          <a:p>
            <a:pPr fontAlgn="ctr"/>
            <a:r>
              <a:rPr lang="en-US" dirty="0"/>
              <a:t>Average monthly spending increases noticeably as addiction‑risk levels rise, with high and severe risk users spending significantly more than low risk users.</a:t>
            </a:r>
          </a:p>
          <a:p>
            <a:pPr fontAlgn="ctr"/>
            <a:r>
              <a:rPr lang="en-US" dirty="0"/>
              <a:t>The pattern shows that the financial spending is strongly connected to behavioral intensity.</a:t>
            </a:r>
          </a:p>
          <a:p>
            <a:pPr fontAlgn="ctr"/>
            <a:r>
              <a:rPr lang="en-US" dirty="0"/>
              <a:t>From a business perspective, this means a substantial revenue may be coming from users who show elevated risk levels.</a:t>
            </a:r>
          </a:p>
        </p:txBody>
      </p:sp>
      <p:pic>
        <p:nvPicPr>
          <p:cNvPr id="5" name="Picture 4">
            <a:extLst>
              <a:ext uri="{FF2B5EF4-FFF2-40B4-BE49-F238E27FC236}">
                <a16:creationId xmlns:a16="http://schemas.microsoft.com/office/drawing/2014/main" id="{D58062EA-58DA-CD3E-1700-0318B92E4764}"/>
              </a:ext>
            </a:extLst>
          </p:cNvPr>
          <p:cNvPicPr>
            <a:picLocks noChangeAspect="1"/>
          </p:cNvPicPr>
          <p:nvPr/>
        </p:nvPicPr>
        <p:blipFill>
          <a:blip r:embed="rId2"/>
          <a:stretch>
            <a:fillRect/>
          </a:stretch>
        </p:blipFill>
        <p:spPr>
          <a:xfrm>
            <a:off x="3189597" y="908978"/>
            <a:ext cx="5950458" cy="3690790"/>
          </a:xfrm>
          <a:prstGeom prst="rect">
            <a:avLst/>
          </a:prstGeom>
        </p:spPr>
      </p:pic>
    </p:spTree>
    <p:extLst>
      <p:ext uri="{BB962C8B-B14F-4D97-AF65-F5344CB8AC3E}">
        <p14:creationId xmlns:p14="http://schemas.microsoft.com/office/powerpoint/2010/main" val="33894650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306D2E-51CD-0B6C-2666-041463C9606F}"/>
              </a:ext>
            </a:extLst>
          </p:cNvPr>
          <p:cNvSpPr>
            <a:spLocks noGrp="1"/>
          </p:cNvSpPr>
          <p:nvPr>
            <p:ph type="title"/>
          </p:nvPr>
        </p:nvSpPr>
        <p:spPr>
          <a:xfrm>
            <a:off x="462116" y="173278"/>
            <a:ext cx="10891684" cy="1325563"/>
          </a:xfrm>
        </p:spPr>
        <p:txBody>
          <a:bodyPr/>
          <a:lstStyle/>
          <a:p>
            <a:r>
              <a:rPr lang="en-US" dirty="0"/>
              <a:t>Monthly Game Spending by Gaming Platform</a:t>
            </a:r>
          </a:p>
        </p:txBody>
      </p:sp>
      <p:sp>
        <p:nvSpPr>
          <p:cNvPr id="3" name="Content Placeholder 2">
            <a:extLst>
              <a:ext uri="{FF2B5EF4-FFF2-40B4-BE49-F238E27FC236}">
                <a16:creationId xmlns:a16="http://schemas.microsoft.com/office/drawing/2014/main" id="{9CAA2CB7-DB66-7EA2-FB2C-904784C740DB}"/>
              </a:ext>
            </a:extLst>
          </p:cNvPr>
          <p:cNvSpPr>
            <a:spLocks noGrp="1"/>
          </p:cNvSpPr>
          <p:nvPr>
            <p:ph idx="1"/>
          </p:nvPr>
        </p:nvSpPr>
        <p:spPr>
          <a:xfrm>
            <a:off x="7177548" y="1667669"/>
            <a:ext cx="4834343" cy="4859097"/>
          </a:xfrm>
        </p:spPr>
        <p:txBody>
          <a:bodyPr>
            <a:normAutofit fontScale="85000" lnSpcReduction="10000"/>
          </a:bodyPr>
          <a:lstStyle/>
          <a:p>
            <a:pPr fontAlgn="ctr"/>
            <a:r>
              <a:rPr lang="en-US" dirty="0"/>
              <a:t>Platforms like PC and console show the highest concentration of severe risk users, indicating stronger ties between platform and elevated spending risk.</a:t>
            </a:r>
          </a:p>
          <a:p>
            <a:pPr fontAlgn="ctr"/>
            <a:r>
              <a:rPr lang="en-US" dirty="0"/>
              <a:t>Mobile and multi‑platform players also show increasing risk levels, but the rise is less abrupt compared to PC, suggesting platform may influence vulnerability differently.</a:t>
            </a:r>
          </a:p>
          <a:p>
            <a:pPr fontAlgn="ctr"/>
            <a:r>
              <a:rPr lang="en-US" dirty="0"/>
              <a:t>These differences imply that certain platforms and monetization may contribute to higher behavioral risk exposure.</a:t>
            </a:r>
          </a:p>
        </p:txBody>
      </p:sp>
      <p:pic>
        <p:nvPicPr>
          <p:cNvPr id="5" name="Picture 4">
            <a:extLst>
              <a:ext uri="{FF2B5EF4-FFF2-40B4-BE49-F238E27FC236}">
                <a16:creationId xmlns:a16="http://schemas.microsoft.com/office/drawing/2014/main" id="{E46ECDD5-1EC4-EBF5-B984-C0EDF5C140E5}"/>
              </a:ext>
            </a:extLst>
          </p:cNvPr>
          <p:cNvPicPr>
            <a:picLocks noChangeAspect="1"/>
          </p:cNvPicPr>
          <p:nvPr/>
        </p:nvPicPr>
        <p:blipFill>
          <a:blip r:embed="rId2"/>
          <a:stretch>
            <a:fillRect/>
          </a:stretch>
        </p:blipFill>
        <p:spPr>
          <a:xfrm>
            <a:off x="180109" y="1498841"/>
            <a:ext cx="6838950" cy="4667250"/>
          </a:xfrm>
          <a:prstGeom prst="rect">
            <a:avLst/>
          </a:prstGeom>
        </p:spPr>
      </p:pic>
    </p:spTree>
    <p:extLst>
      <p:ext uri="{BB962C8B-B14F-4D97-AF65-F5344CB8AC3E}">
        <p14:creationId xmlns:p14="http://schemas.microsoft.com/office/powerpoint/2010/main" val="19401257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911975-54EB-59E2-5BD0-DDAA9CC60305}"/>
              </a:ext>
            </a:extLst>
          </p:cNvPr>
          <p:cNvSpPr>
            <a:spLocks noGrp="1"/>
          </p:cNvSpPr>
          <p:nvPr>
            <p:ph type="title"/>
          </p:nvPr>
        </p:nvSpPr>
        <p:spPr/>
        <p:txBody>
          <a:bodyPr/>
          <a:lstStyle/>
          <a:p>
            <a:r>
              <a:rPr lang="en-US" dirty="0"/>
              <a:t>Monthly Game Spending by Mood State </a:t>
            </a:r>
          </a:p>
        </p:txBody>
      </p:sp>
      <p:sp>
        <p:nvSpPr>
          <p:cNvPr id="3" name="Content Placeholder 2">
            <a:extLst>
              <a:ext uri="{FF2B5EF4-FFF2-40B4-BE49-F238E27FC236}">
                <a16:creationId xmlns:a16="http://schemas.microsoft.com/office/drawing/2014/main" id="{47E4CCA0-9FFE-FA6D-8CF4-1EF29B192CBE}"/>
              </a:ext>
            </a:extLst>
          </p:cNvPr>
          <p:cNvSpPr>
            <a:spLocks noGrp="1"/>
          </p:cNvSpPr>
          <p:nvPr>
            <p:ph idx="1"/>
          </p:nvPr>
        </p:nvSpPr>
        <p:spPr>
          <a:xfrm>
            <a:off x="7408675" y="1794285"/>
            <a:ext cx="4643062" cy="4201102"/>
          </a:xfrm>
        </p:spPr>
        <p:txBody>
          <a:bodyPr>
            <a:normAutofit fontScale="85000" lnSpcReduction="10000"/>
          </a:bodyPr>
          <a:lstStyle/>
          <a:p>
            <a:pPr fontAlgn="ctr"/>
            <a:r>
              <a:rPr lang="en-US" dirty="0"/>
              <a:t>Negative or unstable mood states are linked to higher spending, with high, and severe risk users spending the most.</a:t>
            </a:r>
          </a:p>
          <a:p>
            <a:pPr fontAlgn="ctr"/>
            <a:r>
              <a:rPr lang="en-US" dirty="0"/>
              <a:t>Spending patterns suggest some users may be using gaming as emotional regulation, not just entertainment.</a:t>
            </a:r>
          </a:p>
          <a:p>
            <a:pPr fontAlgn="ctr"/>
            <a:r>
              <a:rPr lang="en-US" dirty="0"/>
              <a:t>This raises ethical concerns for businesses, as monetization may disproportionately affect emotionally vulnerable users.</a:t>
            </a:r>
          </a:p>
        </p:txBody>
      </p:sp>
      <p:pic>
        <p:nvPicPr>
          <p:cNvPr id="5" name="Picture 4">
            <a:extLst>
              <a:ext uri="{FF2B5EF4-FFF2-40B4-BE49-F238E27FC236}">
                <a16:creationId xmlns:a16="http://schemas.microsoft.com/office/drawing/2014/main" id="{E06C2E3D-0DBA-4F89-DD5A-C13AB6966E84}"/>
              </a:ext>
            </a:extLst>
          </p:cNvPr>
          <p:cNvPicPr>
            <a:picLocks noChangeAspect="1"/>
          </p:cNvPicPr>
          <p:nvPr/>
        </p:nvPicPr>
        <p:blipFill>
          <a:blip r:embed="rId2"/>
          <a:stretch>
            <a:fillRect/>
          </a:stretch>
        </p:blipFill>
        <p:spPr>
          <a:xfrm>
            <a:off x="140263" y="1794285"/>
            <a:ext cx="7184598" cy="4201103"/>
          </a:xfrm>
          <a:prstGeom prst="rect">
            <a:avLst/>
          </a:prstGeom>
        </p:spPr>
      </p:pic>
    </p:spTree>
    <p:extLst>
      <p:ext uri="{BB962C8B-B14F-4D97-AF65-F5344CB8AC3E}">
        <p14:creationId xmlns:p14="http://schemas.microsoft.com/office/powerpoint/2010/main" val="23014773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33EE1D-E425-3A7D-3A2C-91397C576EEC}"/>
              </a:ext>
            </a:extLst>
          </p:cNvPr>
          <p:cNvSpPr>
            <a:spLocks noGrp="1"/>
          </p:cNvSpPr>
          <p:nvPr>
            <p:ph type="title"/>
          </p:nvPr>
        </p:nvSpPr>
        <p:spPr>
          <a:xfrm>
            <a:off x="838200" y="145179"/>
            <a:ext cx="10515600" cy="1071716"/>
          </a:xfrm>
        </p:spPr>
        <p:txBody>
          <a:bodyPr>
            <a:normAutofit fontScale="90000"/>
          </a:bodyPr>
          <a:lstStyle/>
          <a:p>
            <a:r>
              <a:rPr lang="en-US" dirty="0"/>
              <a:t>Monthly Game Spending vs Weekly Social Interaction</a:t>
            </a:r>
          </a:p>
        </p:txBody>
      </p:sp>
      <p:sp>
        <p:nvSpPr>
          <p:cNvPr id="3" name="Content Placeholder 2">
            <a:extLst>
              <a:ext uri="{FF2B5EF4-FFF2-40B4-BE49-F238E27FC236}">
                <a16:creationId xmlns:a16="http://schemas.microsoft.com/office/drawing/2014/main" id="{CBE64EBF-8B38-6EFA-2749-2FD6F41CD808}"/>
              </a:ext>
            </a:extLst>
          </p:cNvPr>
          <p:cNvSpPr>
            <a:spLocks noGrp="1"/>
          </p:cNvSpPr>
          <p:nvPr>
            <p:ph idx="1"/>
          </p:nvPr>
        </p:nvSpPr>
        <p:spPr>
          <a:xfrm>
            <a:off x="7065818" y="1640036"/>
            <a:ext cx="4973782" cy="4755284"/>
          </a:xfrm>
        </p:spPr>
        <p:txBody>
          <a:bodyPr>
            <a:normAutofit/>
          </a:bodyPr>
          <a:lstStyle/>
          <a:p>
            <a:pPr fontAlgn="ctr"/>
            <a:r>
              <a:rPr lang="en-US" sz="2400" dirty="0"/>
              <a:t>The data shows users that increase their monthly game spending, tend to have fewer in-person social hours.</a:t>
            </a:r>
          </a:p>
          <a:p>
            <a:pPr fontAlgn="ctr"/>
            <a:r>
              <a:rPr lang="en-US" sz="2400" dirty="0"/>
              <a:t>The clustering of high spenders at low social interaction levels suggests a possible behavioral effect.</a:t>
            </a:r>
          </a:p>
          <a:p>
            <a:pPr fontAlgn="ctr"/>
            <a:r>
              <a:rPr lang="en-US" sz="2400" dirty="0"/>
              <a:t>If this pattern drives growth, it could raise concerns about users balance over time.</a:t>
            </a:r>
          </a:p>
          <a:p>
            <a:endParaRPr lang="en-US" sz="2400" dirty="0"/>
          </a:p>
        </p:txBody>
      </p:sp>
      <p:pic>
        <p:nvPicPr>
          <p:cNvPr id="5" name="Picture 4">
            <a:extLst>
              <a:ext uri="{FF2B5EF4-FFF2-40B4-BE49-F238E27FC236}">
                <a16:creationId xmlns:a16="http://schemas.microsoft.com/office/drawing/2014/main" id="{E4637F0A-4237-42D2-68AE-01127BA15194}"/>
              </a:ext>
            </a:extLst>
          </p:cNvPr>
          <p:cNvPicPr>
            <a:picLocks noChangeAspect="1"/>
          </p:cNvPicPr>
          <p:nvPr/>
        </p:nvPicPr>
        <p:blipFill>
          <a:blip r:embed="rId2"/>
          <a:stretch>
            <a:fillRect/>
          </a:stretch>
        </p:blipFill>
        <p:spPr>
          <a:xfrm>
            <a:off x="152400" y="1640035"/>
            <a:ext cx="6770236" cy="4755285"/>
          </a:xfrm>
          <a:prstGeom prst="rect">
            <a:avLst/>
          </a:prstGeom>
        </p:spPr>
      </p:pic>
    </p:spTree>
    <p:extLst>
      <p:ext uri="{BB962C8B-B14F-4D97-AF65-F5344CB8AC3E}">
        <p14:creationId xmlns:p14="http://schemas.microsoft.com/office/powerpoint/2010/main" val="26730036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AFC7F0-F9E8-FF4F-531C-5E86C4139DCC}"/>
              </a:ext>
            </a:extLst>
          </p:cNvPr>
          <p:cNvSpPr>
            <a:spLocks noGrp="1"/>
          </p:cNvSpPr>
          <p:nvPr>
            <p:ph type="title"/>
          </p:nvPr>
        </p:nvSpPr>
        <p:spPr>
          <a:xfrm>
            <a:off x="838200" y="32374"/>
            <a:ext cx="10515600" cy="883572"/>
          </a:xfrm>
        </p:spPr>
        <p:txBody>
          <a:bodyPr/>
          <a:lstStyle/>
          <a:p>
            <a:r>
              <a:rPr lang="en-US" dirty="0"/>
              <a:t>Monthly Game Spending vs Social Isolation</a:t>
            </a:r>
          </a:p>
        </p:txBody>
      </p:sp>
      <p:sp>
        <p:nvSpPr>
          <p:cNvPr id="3" name="Content Placeholder 2">
            <a:extLst>
              <a:ext uri="{FF2B5EF4-FFF2-40B4-BE49-F238E27FC236}">
                <a16:creationId xmlns:a16="http://schemas.microsoft.com/office/drawing/2014/main" id="{8E90069A-76D7-22D9-5E2B-1F064096DFC6}"/>
              </a:ext>
            </a:extLst>
          </p:cNvPr>
          <p:cNvSpPr>
            <a:spLocks noGrp="1"/>
          </p:cNvSpPr>
          <p:nvPr>
            <p:ph idx="1"/>
          </p:nvPr>
        </p:nvSpPr>
        <p:spPr>
          <a:xfrm>
            <a:off x="7860997" y="915946"/>
            <a:ext cx="4331003" cy="5370429"/>
          </a:xfrm>
        </p:spPr>
        <p:txBody>
          <a:bodyPr>
            <a:normAutofit lnSpcReduction="10000"/>
          </a:bodyPr>
          <a:lstStyle/>
          <a:p>
            <a:pPr fontAlgn="ctr"/>
            <a:r>
              <a:rPr lang="en-US" sz="2400" dirty="0"/>
              <a:t>The box plots show that high and severe risk users who spend the most also tend to have higher social isolation scores, creating a clear cluster of high spend and high isolation.</a:t>
            </a:r>
          </a:p>
          <a:p>
            <a:pPr fontAlgn="ctr"/>
            <a:r>
              <a:rPr lang="en-US" sz="2400" dirty="0"/>
              <a:t>This pattern is much weaker among low risk users, who stay mostly in the low‑spend, low‑isolation range.</a:t>
            </a:r>
          </a:p>
          <a:p>
            <a:pPr fontAlgn="ctr"/>
            <a:r>
              <a:rPr lang="en-US" sz="2400" dirty="0"/>
              <a:t>Because heavy spending is concentrated among more isolated users, relying on this segment for revenue could raise concerns over time.</a:t>
            </a:r>
          </a:p>
        </p:txBody>
      </p:sp>
      <p:pic>
        <p:nvPicPr>
          <p:cNvPr id="5" name="Picture 4">
            <a:extLst>
              <a:ext uri="{FF2B5EF4-FFF2-40B4-BE49-F238E27FC236}">
                <a16:creationId xmlns:a16="http://schemas.microsoft.com/office/drawing/2014/main" id="{0BCD7F4B-41D3-67CB-8391-7ECD0494403E}"/>
              </a:ext>
            </a:extLst>
          </p:cNvPr>
          <p:cNvPicPr>
            <a:picLocks noChangeAspect="1"/>
          </p:cNvPicPr>
          <p:nvPr/>
        </p:nvPicPr>
        <p:blipFill>
          <a:blip r:embed="rId2"/>
          <a:stretch>
            <a:fillRect/>
          </a:stretch>
        </p:blipFill>
        <p:spPr>
          <a:xfrm>
            <a:off x="196495" y="915946"/>
            <a:ext cx="7371368" cy="5223595"/>
          </a:xfrm>
          <a:prstGeom prst="rect">
            <a:avLst/>
          </a:prstGeom>
        </p:spPr>
      </p:pic>
    </p:spTree>
    <p:extLst>
      <p:ext uri="{BB962C8B-B14F-4D97-AF65-F5344CB8AC3E}">
        <p14:creationId xmlns:p14="http://schemas.microsoft.com/office/powerpoint/2010/main" val="23831159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DD6AF4-8761-08FE-35AE-2528C342EE7A}"/>
              </a:ext>
            </a:extLst>
          </p:cNvPr>
          <p:cNvSpPr>
            <a:spLocks noGrp="1"/>
          </p:cNvSpPr>
          <p:nvPr>
            <p:ph type="title"/>
          </p:nvPr>
        </p:nvSpPr>
        <p:spPr>
          <a:xfrm>
            <a:off x="838200" y="365125"/>
            <a:ext cx="10515600" cy="844243"/>
          </a:xfrm>
        </p:spPr>
        <p:txBody>
          <a:bodyPr/>
          <a:lstStyle/>
          <a:p>
            <a:r>
              <a:rPr lang="en-US" dirty="0"/>
              <a:t>Conclusions</a:t>
            </a:r>
          </a:p>
        </p:txBody>
      </p:sp>
      <p:sp>
        <p:nvSpPr>
          <p:cNvPr id="3" name="Content Placeholder 2">
            <a:extLst>
              <a:ext uri="{FF2B5EF4-FFF2-40B4-BE49-F238E27FC236}">
                <a16:creationId xmlns:a16="http://schemas.microsoft.com/office/drawing/2014/main" id="{C47C8D3E-8E53-0A00-E368-9482D92859D7}"/>
              </a:ext>
            </a:extLst>
          </p:cNvPr>
          <p:cNvSpPr>
            <a:spLocks noGrp="1"/>
          </p:cNvSpPr>
          <p:nvPr>
            <p:ph idx="1"/>
          </p:nvPr>
        </p:nvSpPr>
        <p:spPr>
          <a:xfrm>
            <a:off x="838200" y="1415845"/>
            <a:ext cx="10515600" cy="4761118"/>
          </a:xfrm>
        </p:spPr>
        <p:txBody>
          <a:bodyPr>
            <a:normAutofit/>
          </a:bodyPr>
          <a:lstStyle/>
          <a:p>
            <a:pPr marL="0" indent="0">
              <a:buNone/>
            </a:pPr>
            <a:r>
              <a:rPr lang="en-US" sz="2400" dirty="0"/>
              <a:t>Overall, the analysis shows that higher gaming spending consistently aligns with higher behavioral risk, with the biggest spenders frequently appearing in categories tied to elevated addiction risk, negative mood states, reduced in‑person social interaction, and higher social isolation scores. Platforms also play a role, as PC and console show the strongest concentration of severe risk users. Emotional factors further contribute, with users in negative moods spending more, indicating that spending may sometimes function as a coping mechanism rather than entertainment. Across these patterns, revenue appears disproportionately driven by vulnerable users, raising important ethical concerns.</a:t>
            </a:r>
          </a:p>
          <a:p>
            <a:pPr marL="0" indent="0">
              <a:buNone/>
            </a:pPr>
            <a:endParaRPr lang="en-US" sz="2400" dirty="0"/>
          </a:p>
        </p:txBody>
      </p:sp>
    </p:spTree>
    <p:extLst>
      <p:ext uri="{BB962C8B-B14F-4D97-AF65-F5344CB8AC3E}">
        <p14:creationId xmlns:p14="http://schemas.microsoft.com/office/powerpoint/2010/main" val="176001434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6144</TotalTime>
  <Words>548</Words>
  <Application>Microsoft Office PowerPoint</Application>
  <PresentationFormat>Widescreen</PresentationFormat>
  <Paragraphs>27</Paragraphs>
  <Slides>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Aptos</vt:lpstr>
      <vt:lpstr>Aptos Display</vt:lpstr>
      <vt:lpstr>Arial</vt:lpstr>
      <vt:lpstr>Office Theme</vt:lpstr>
      <vt:lpstr>MSDS670_X40_Data Visualization Regis University</vt:lpstr>
      <vt:lpstr>Overview</vt:lpstr>
      <vt:lpstr>Average Monthly Game Spending by Addiction Risk</vt:lpstr>
      <vt:lpstr>Monthly Game Spending by Gaming Platform</vt:lpstr>
      <vt:lpstr>Monthly Game Spending by Mood State </vt:lpstr>
      <vt:lpstr>Monthly Game Spending vs Weekly Social Interaction</vt:lpstr>
      <vt:lpstr>Monthly Game Spending vs Social Isolation</vt:lpstr>
      <vt:lpstr>Conclusions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Nathan Severance</dc:creator>
  <cp:lastModifiedBy>Nathan Severance</cp:lastModifiedBy>
  <cp:revision>9</cp:revision>
  <dcterms:created xsi:type="dcterms:W3CDTF">2026-01-16T22:09:56Z</dcterms:created>
  <dcterms:modified xsi:type="dcterms:W3CDTF">2026-02-22T23:56:04Z</dcterms:modified>
</cp:coreProperties>
</file>